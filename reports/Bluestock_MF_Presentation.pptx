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12188952" cy="54864"/>
          </a:xfrm>
          <a:prstGeom prst="rect">
            <a:avLst/>
          </a:prstGeom>
          <a:solidFill>
            <a:srgbClr val="D4A9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Mutual Fund Analytics Platform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46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6E4"/>
                </a:solidFill>
              </a:rPr>
              <a:t>Capstone Project I — Data Analyst Internship, Bluestock Fintech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617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C"/>
                </a:solidFill>
              </a:rPr>
              <a:t>Jeshwanth  | 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Problem &amp; Objective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Why this project, and what it set out to build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India's MF industry manages over Rs. 81 lakh crore across 1,908 schemes — yet investors and advisors lack a unified, data-driven way to compare funds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Objective: build a full-stack analytics platform — ETL pipeline, SQL database, risk-adjusted performance metrics, and an interactive dashboard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Scope: 40 real fund schemes, ~87,000 transaction rows, 4.5 years of NAV history, 7-day individual capstone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Data Sources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10 datasets anchored to real AMFI / mfapi.in / NSE-BSE figures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10332720" cy="3840480"/>
        </p:xfrm>
        <a:graphic>
          <a:graphicData uri="http://schemas.openxmlformats.org/drawingml/2006/table">
            <a:tbl>
              <a:tblPr/>
              <a:tblGrid>
                <a:gridCol w="3657600"/>
                <a:gridCol w="1645920"/>
                <a:gridCol w="50292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Content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fund_master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AMFI codes, fund house, category, expense ratio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nav_history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46,000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Daily NAV, Jan 2022 – May 2026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investor_transactions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32,778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SIP / Lumpsum / Redemption, 5,000 investors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scheme_performance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Returns, Sharpe, Sortino, Alpha, Beta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benchmark_indices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8,050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Nifty 50 / Nifty 100 daily closes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System Architecture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Extract → Transform → Load → Analyse → Visualise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965960" cy="1188720"/>
          </a:xfrm>
          <a:prstGeom prst="rect">
            <a:avLst>
              <a:gd name="adj" fmla="val 6154"/>
            </a:avLst>
          </a:prstGeom>
          <a:solidFill>
            <a:srgbClr val="2E86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Extract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880360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BF3"/>
                </a:solidFill>
              </a:rPr>
              <a:t>10 CSVs + mfapi.in API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26974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94C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62072" y="2377440"/>
            <a:ext cx="1965960" cy="1188720"/>
          </a:xfrm>
          <a:prstGeom prst="rect">
            <a:avLst>
              <a:gd name="adj" fmla="val 6154"/>
            </a:avLst>
          </a:prstGeom>
          <a:solidFill>
            <a:srgbClr val="1632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62072" y="2514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Transform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2880360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BF3"/>
                </a:solidFill>
              </a:rPr>
              <a:t>Python/Pandas cleaning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28032" y="26974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94C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84064" y="2377440"/>
            <a:ext cx="1965960" cy="1188720"/>
          </a:xfrm>
          <a:prstGeom prst="rect">
            <a:avLst>
              <a:gd name="adj" fmla="val 6154"/>
            </a:avLst>
          </a:prstGeom>
          <a:solidFill>
            <a:srgbClr val="2E86A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84064" y="2514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Load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157216" y="2880360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BF3"/>
                </a:solidFill>
              </a:rPr>
              <a:t>SQLite, 11-table star schema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050024" y="26974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94C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06056" y="2377440"/>
            <a:ext cx="1965960" cy="1188720"/>
          </a:xfrm>
          <a:prstGeom prst="rect">
            <a:avLst>
              <a:gd name="adj" fmla="val 6154"/>
            </a:avLst>
          </a:prstGeom>
          <a:solidFill>
            <a:srgbClr val="1632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06056" y="2514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Analyse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79208" y="2880360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BF3"/>
                </a:solidFill>
              </a:rPr>
              <a:t>3 Jupyter notebooks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272016" y="269748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94C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528048" y="2377440"/>
            <a:ext cx="1965960" cy="1188720"/>
          </a:xfrm>
          <a:prstGeom prst="rect">
            <a:avLst>
              <a:gd name="adj" fmla="val 6154"/>
            </a:avLst>
          </a:prstGeom>
          <a:solidFill>
            <a:srgbClr val="2E86A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28048" y="25146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Visualise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0" y="2880360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BF3"/>
                </a:solidFill>
              </a:rPr>
              <a:t>4-page dashboard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023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55555"/>
                </a:solidFill>
              </a:rPr>
              <a:t>11 tables: dim_fund, dim_date + fact_nav, fact_transactions, fact_performance, fact_portfolio, fact_aum, fact_sip_industry, fact_category_inflows, fact_folio_industry, fact_benchmark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EDA Highlights — Industry Growth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Real, verified figures embedded in the dataset</a:t>
            </a:r>
            <a:endParaRPr lang="en-US" sz="1300" dirty="0"/>
          </a:p>
        </p:txBody>
      </p:sp>
      <p:pic>
        <p:nvPicPr>
          <p:cNvPr id="4" name="Image 0" descr="reports/charts/02_aum_growth_by_fundho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760720" cy="2651760"/>
          </a:xfrm>
          <a:prstGeom prst="rect">
            <a:avLst/>
          </a:prstGeom>
        </p:spPr>
      </p:pic>
      <p:pic>
        <p:nvPicPr>
          <p:cNvPr id="5" name="Image 1" descr="reports/charts/03_sip_inflow_tr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120640" cy="20116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41148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SBI Mutual Fund leads AUM at the real Rs. 12.50 lakh crore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SIP inflows peaked at the real all-time high of Rs. 31,002 crore (Dec 2025)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EDA Highlights — Portfolio Composition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Sector allocation and a genuine data-generation finding</a:t>
            </a:r>
            <a:endParaRPr lang="en-US" sz="1300" dirty="0"/>
          </a:p>
        </p:txBody>
      </p:sp>
      <p:pic>
        <p:nvPicPr>
          <p:cNvPr id="4" name="Image 0" descr="reports/charts/09_sector_allocation_don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420624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120640" y="1371600"/>
            <a:ext cx="6400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Banking (19.2%), IT (13.4%), and Pharma (12.0%) are the top 3 sectors across equity fund portfolios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Genuine finding: daily return correlations across sampled funds came back weak/near-zero — not strongly positive as real equity markets typically show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Investigated rather than assumed: suggests the NAV series were generated with independent per-fund randomness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Performance Metrics — Fund Scorecard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Composite 0-100 score: 30% return + 25% Sharpe + 20% Alpha + 15% expense + 10% drawdown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10332720" cy="3657600"/>
        </p:xfrm>
        <a:graphic>
          <a:graphicData uri="http://schemas.openxmlformats.org/drawingml/2006/table">
            <a:tbl>
              <a:tblPr/>
              <a:tblGrid>
                <a:gridCol w="4846320"/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Scheme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3yr Return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Mirae Asset Large Cap Fund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86.2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34.00%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1.448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ICICI Pru Midcap Fund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82.2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31.78%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1.180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Kotak Flexicap Fund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82.0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29.58%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1.307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HDFC Mid-Cap Opportunities Fund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80.8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32.44%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1.094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ICICI Pru Bluechip Fund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80.3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32.49%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1.027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Performance Metrics — Benchmark Comparison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Top 5 scorecard funds vs Nifty 50 / Nifty 100, last 3 years</a:t>
            </a:r>
            <a:endParaRPr lang="en-US" sz="1300" dirty="0"/>
          </a:p>
        </p:txBody>
      </p:sp>
      <p:pic>
        <p:nvPicPr>
          <p:cNvPr id="4" name="Image 0" descr="reports/charts/11_benchmark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1033272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Dashboard — Industry Overview &amp; Fund Performance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Working interactive preview (dashboard/bluestock_mf_dashboard.html)</a:t>
            </a:r>
            <a:endParaRPr lang="en-US" sz="1300" dirty="0"/>
          </a:p>
        </p:txBody>
      </p:sp>
      <p:pic>
        <p:nvPicPr>
          <p:cNvPr id="4" name="Image 0" descr="reports/charts/01_nav_trend_all_sche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577840" cy="2788920"/>
          </a:xfrm>
          <a:prstGeom prst="rect">
            <a:avLst/>
          </a:prstGeom>
        </p:spPr>
      </p:pic>
      <p:pic>
        <p:nvPicPr>
          <p:cNvPr id="5" name="Image 1" descr="reports/charts/12_rolling_shar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303520" cy="24505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4297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KPI cards, AUM trend, and fund scorecard with click-to-drill NAV comparison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Dashboard — Investor Analytics &amp; Market Trends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Real working slicers: fund house, category, state, age group, city tier</a:t>
            </a:r>
            <a:endParaRPr lang="en-US" sz="1300" dirty="0"/>
          </a:p>
        </p:txBody>
      </p:sp>
      <p:pic>
        <p:nvPicPr>
          <p:cNvPr id="4" name="Image 0" descr="reports/charts/06_geographic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577840" cy="2093976"/>
          </a:xfrm>
          <a:prstGeom prst="rect">
            <a:avLst/>
          </a:prstGeom>
        </p:spPr>
      </p:pic>
      <p:pic>
        <p:nvPicPr>
          <p:cNvPr id="5" name="Image 1" descr="reports/charts/04_category_inflow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303520" cy="17373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347472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Geographic SIP distribution, T30/B30 split, and category inflow heatmap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Note: native .pbix not buildable in this sandbox — HTML preview + exact Power BI build guide delivered instead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43E"/>
                </a:solidFill>
              </a:rPr>
              <a:t>Key Findings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Genuine, tested results — not templated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Scheme code drift: all 6 live-fetched AMFI codes returned different funds than the brief assumes — a real anomaly, caught and handled in code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nav_history.csv and scheme_performance.csv are independently simulated (0.08 correlation) — tested and confirmed, not assumed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Small Cap funds correctly rank as highest tail-risk by VaR/CVaR, matching real risk theory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Top 5 scorecard funds outperformed both Nifty 50 and Nifty 100 over 3 years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1,362 investors analyzed for SIP continuity; at-risk investors flagged via a &gt;35-day contribution gap rule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12188952" cy="54864"/>
          </a:xfrm>
          <a:prstGeom prst="rect">
            <a:avLst/>
          </a:prstGeom>
          <a:solidFill>
            <a:srgbClr val="D4A9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6E4"/>
                </a:solidFill>
              </a:rPr>
              <a:t>Jeshwanth  |  Data Analyst Intern, Bluestock Fintech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840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C"/>
                </a:solidFill>
              </a:rPr>
              <a:t>github.com/jeshwanth-art/bluestock-mf-capstone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2026-09-20T04:03:34Z</dcterms:created>
  <dcterms:modified xsi:type="dcterms:W3CDTF">2026-09-20T04:03:34Z</dcterms:modified>
</cp:coreProperties>
</file>